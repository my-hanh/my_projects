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5FB15-077E-402E-8FF3-A2C187F8407E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E2154-C65E-4D7F-92DF-5BD87C62F85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8759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E2154-C65E-4D7F-92DF-5BD87C62F858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07239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E2154-C65E-4D7F-92DF-5BD87C62F858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73716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E2154-C65E-4D7F-92DF-5BD87C62F858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07328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C7CA47-941D-F34A-CDAE-CA875A8B9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7ED305-D84A-A4E5-13DA-49516E0E8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FBADE-BE79-4A7B-1DDE-378C713F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7E0734-B3E8-716F-6AD1-A58EC730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5A767F-B0CB-479F-634D-551EBB31E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2386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56FBA-AAD3-EC2E-5FFE-0FC7A2D5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18AB68-4BEE-778E-37FD-C9F37463D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DC143-02D1-C483-4442-A654A23A6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159CC5-2630-1D2F-46A2-ECA4BA2C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244AD8-56FC-F36B-318D-9AA67B79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39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31C596-ACD1-B15C-8D04-9EF6DB38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DFD859-AB15-E64C-1641-8DDD81E9F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28C6FF-B5D4-BE49-CAE9-61815FCF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195868-98AF-CEA3-9C24-6C021679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C1E9EF-A86D-91BA-A7F3-F6628B7D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9067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19B64-ABD3-3B93-0A5C-E7769B2D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E2A64E-49C5-D326-E997-D59FCE504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571170-42F9-FE4B-AE8E-E747DB329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0CDB39-892A-A384-9DE2-E36ED7D6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0BD682-85F1-3E45-84FA-D590FD5F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0A8954-5563-6814-DB70-17029170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522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2038B-F739-292B-1746-F3B9A8103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FB835C-9770-DAAF-2169-4B1762B83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F5F6D8-0ED4-C134-7EDE-D9DCA6A1B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184B51F-B37F-93BB-7753-CE9A4CCBA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A26350F-DB25-0BF7-7EB0-1D5CA6616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9AC1A15-3386-B47D-C790-7763313A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56026C1-830F-472A-4143-D3D06B063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95C59D3-0C96-8953-A50A-ABDD9D3F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3190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6EC062-749D-14EF-7B97-1C5118B55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B2E8B4-136F-5C6A-9D30-17CC8709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2CF276-1581-53C3-490E-71EABF9E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5398D8-E3D2-FB3A-4A3C-0B9D5FF7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1473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36AABA-E4C1-6D6D-EF40-04188553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80D803-06DA-7424-AA0D-BB243CA9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1CEAC7-E6FC-DEA9-3A32-C7EA5F6A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504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F3A2D-BF83-8289-B3B4-BBAB8B3E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2B57C5-5D78-9DF4-9952-38FE5584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0727BA-C819-76CC-FC3E-75D52B66F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9C8D2E-BB67-9BFE-7CAD-F5309298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CFDD10-E873-992C-D549-21CB2A0D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6792C3-B854-1287-5272-3A28491B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6114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15682-4AB0-24BF-468A-6FDEB95C9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14BFD79-B74D-2657-79C5-5DE1A46BD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306A12-AE35-C576-5489-13AC2D90E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A02B14-2B14-45A6-6E8C-F85932F4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6EA0A3-DB87-D664-E9A8-EDEF3F9D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CAD043-528A-37D5-45AF-F048F0C38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3634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020A0-D72E-22FA-2362-26B122AF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85E5E6-7661-7B97-5EE8-6F9AEF2EE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10DDBA-809D-496C-C7EF-FD8C151C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86BE29-0FC0-9CBB-19A1-B10C44D6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C4DB2-2E2B-7611-7D55-84C78F9C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087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58787CB-D913-1F73-26EB-790058B86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409DC5-88DB-1237-3222-797F3B590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880E7F-4DF2-41F7-4646-FB3084D4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421C24-FE02-6795-A5B1-DD64D3F0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91DD51-1133-CB61-3ED8-545F8F5F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687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23DC180-DDEE-3E42-7EC6-6DC15CF1D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4F8CD8-6395-D197-678C-D39FCC019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1AF85B-06E7-2B9E-1F89-58A013B0C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D1DC9-266B-4E26-AEF7-69C071B0FAE6}" type="datetimeFigureOut">
              <a:rPr lang="de-CH" smtClean="0"/>
              <a:t>01.04.2026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8DBA31-0933-3EB4-B757-B215DA1D8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E14525-84A1-4FA0-8353-8DBE3C077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E78D6-7E65-4F27-9679-EA5847AC45E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5972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5421703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B9B62B-1008-1BBA-E502-79ECC3241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8426" y="1254763"/>
            <a:ext cx="3444948" cy="2481729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rgbClr val="595959"/>
                </a:solidFill>
              </a:rPr>
              <a:t>DWH Project Report</a:t>
            </a:r>
            <a:endParaRPr lang="de-CH" sz="3200" dirty="0">
              <a:solidFill>
                <a:srgbClr val="595959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DF9F4F-1046-4479-8ADE-3EED2570A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432" y="4061593"/>
            <a:ext cx="4362935" cy="1785506"/>
          </a:xfrm>
        </p:spPr>
        <p:txBody>
          <a:bodyPr anchor="t">
            <a:normAutofit/>
          </a:bodyPr>
          <a:lstStyle/>
          <a:p>
            <a:r>
              <a:rPr lang="de-DE" sz="1400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14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My-Hanh Dang &amp; Daniel Strässle</a:t>
            </a:r>
            <a:endParaRPr lang="de-CH" sz="1400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72981F7A-4B50-0CFE-2BA9-721ABB7F8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9"/>
          <a:stretch>
            <a:fillRect/>
          </a:stretch>
        </p:blipFill>
        <p:spPr>
          <a:xfrm>
            <a:off x="6107503" y="685799"/>
            <a:ext cx="5410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3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43C9AC-110B-F8A3-7F0F-ECDFDE664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379628"/>
            <a:ext cx="5522976" cy="609874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e-DE" sz="3800" b="1" u="sng" dirty="0" err="1"/>
              <a:t>Staging</a:t>
            </a:r>
            <a:r>
              <a:rPr lang="de-DE" sz="3800" b="1" u="sng" dirty="0"/>
              <a:t> Area</a:t>
            </a:r>
            <a:endParaRPr lang="de-CH" sz="3800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de-CH" sz="2300" dirty="0"/>
              <a:t>Integrated </a:t>
            </a:r>
            <a:r>
              <a:rPr lang="de-CH" sz="2300" dirty="0" err="1"/>
              <a:t>six</a:t>
            </a:r>
            <a:r>
              <a:rPr lang="de-CH" sz="2300" dirty="0"/>
              <a:t> CSV </a:t>
            </a:r>
            <a:r>
              <a:rPr lang="de-CH" sz="2300" dirty="0" err="1"/>
              <a:t>datasets</a:t>
            </a:r>
            <a:r>
              <a:rPr lang="de-CH" sz="2300" dirty="0"/>
              <a:t>: </a:t>
            </a:r>
            <a:r>
              <a:rPr lang="de-CH" sz="2300" i="1" dirty="0"/>
              <a:t>Products, </a:t>
            </a:r>
            <a:r>
              <a:rPr lang="de-CH" sz="2300" i="1" dirty="0" err="1"/>
              <a:t>Categories</a:t>
            </a:r>
            <a:r>
              <a:rPr lang="de-CH" sz="2300" i="1" dirty="0"/>
              <a:t>, Customers, Orders, </a:t>
            </a:r>
            <a:r>
              <a:rPr lang="de-CH" sz="2300" i="1" dirty="0" err="1"/>
              <a:t>OrderDetails</a:t>
            </a:r>
            <a:r>
              <a:rPr lang="de-CH" sz="2300" i="1" dirty="0"/>
              <a:t>, </a:t>
            </a:r>
            <a:r>
              <a:rPr lang="de-CH" sz="2300" i="1" dirty="0" err="1"/>
              <a:t>Employees</a:t>
            </a:r>
            <a:r>
              <a:rPr lang="de-CH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dirty="0"/>
              <a:t>ETL </a:t>
            </a:r>
            <a:r>
              <a:rPr lang="de-CH" sz="2300" dirty="0" err="1"/>
              <a:t>workflow</a:t>
            </a:r>
            <a:r>
              <a:rPr lang="de-CH" sz="2300" dirty="0"/>
              <a:t> </a:t>
            </a:r>
            <a:r>
              <a:rPr lang="de-CH" sz="2300" dirty="0" err="1"/>
              <a:t>implemented</a:t>
            </a:r>
            <a:r>
              <a:rPr lang="de-CH" sz="2300" dirty="0"/>
              <a:t> in KNIME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dirty="0" err="1"/>
              <a:t>Cleaned</a:t>
            </a:r>
            <a:r>
              <a:rPr lang="de-CH" sz="2300" dirty="0"/>
              <a:t> </a:t>
            </a:r>
            <a:r>
              <a:rPr lang="de-CH" sz="2300" dirty="0" err="1"/>
              <a:t>data</a:t>
            </a:r>
            <a:r>
              <a:rPr lang="de-CH" sz="2300" dirty="0"/>
              <a:t> </a:t>
            </a:r>
            <a:r>
              <a:rPr lang="de-CH" sz="2300" dirty="0" err="1"/>
              <a:t>loaded</a:t>
            </a:r>
            <a:r>
              <a:rPr lang="de-CH" sz="2300" dirty="0"/>
              <a:t> </a:t>
            </a:r>
            <a:r>
              <a:rPr lang="de-CH" sz="2300" dirty="0" err="1"/>
              <a:t>into</a:t>
            </a:r>
            <a:r>
              <a:rPr lang="de-CH" sz="2300" dirty="0"/>
              <a:t> PostgreSQL </a:t>
            </a:r>
          </a:p>
          <a:p>
            <a:pPr marL="0" indent="0">
              <a:buNone/>
            </a:pPr>
            <a:endParaRPr lang="de-CH" sz="2300" dirty="0"/>
          </a:p>
          <a:p>
            <a:pPr>
              <a:buNone/>
            </a:pPr>
            <a:r>
              <a:rPr lang="de-CH" sz="3800" b="1" u="sng" dirty="0"/>
              <a:t>ETL Workflow &amp; Data </a:t>
            </a:r>
            <a:r>
              <a:rPr lang="de-CH" sz="3800" b="1" u="sng" dirty="0" err="1"/>
              <a:t>Preparation</a:t>
            </a:r>
            <a:endParaRPr lang="de-CH" sz="3800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/>
              <a:t>File Reader / CSV Reader:</a:t>
            </a:r>
            <a:r>
              <a:rPr lang="de-CH" sz="2300" dirty="0"/>
              <a:t> </a:t>
            </a:r>
            <a:r>
              <a:rPr lang="de-CH" sz="2300" dirty="0" err="1"/>
              <a:t>Imported</a:t>
            </a:r>
            <a:r>
              <a:rPr lang="de-CH" sz="2300" dirty="0"/>
              <a:t> </a:t>
            </a:r>
            <a:r>
              <a:rPr lang="de-CH" sz="2300" dirty="0" err="1"/>
              <a:t>raw</a:t>
            </a:r>
            <a:r>
              <a:rPr lang="de-CH" sz="2300" dirty="0"/>
              <a:t> </a:t>
            </a:r>
            <a:r>
              <a:rPr lang="de-CH" sz="2300" dirty="0" err="1"/>
              <a:t>datasets</a:t>
            </a:r>
            <a:r>
              <a:rPr lang="de-CH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/>
              <a:t>Encoding </a:t>
            </a:r>
            <a:r>
              <a:rPr lang="de-CH" sz="2300" b="1" dirty="0" err="1"/>
              <a:t>conversion</a:t>
            </a:r>
            <a:r>
              <a:rPr lang="de-CH" sz="2300" b="1" dirty="0"/>
              <a:t>:</a:t>
            </a:r>
            <a:r>
              <a:rPr lang="de-CH" sz="2300" dirty="0"/>
              <a:t> </a:t>
            </a:r>
            <a:r>
              <a:rPr lang="de-CH" sz="2300" dirty="0" err="1"/>
              <a:t>Standardized</a:t>
            </a:r>
            <a:r>
              <a:rPr lang="de-CH" sz="2300" dirty="0"/>
              <a:t> </a:t>
            </a:r>
            <a:r>
              <a:rPr lang="de-CH" sz="2300" dirty="0" err="1"/>
              <a:t>file</a:t>
            </a:r>
            <a:r>
              <a:rPr lang="de-CH" sz="2300" dirty="0"/>
              <a:t> </a:t>
            </a:r>
            <a:r>
              <a:rPr lang="de-CH" sz="2300" dirty="0" err="1"/>
              <a:t>encodings</a:t>
            </a:r>
            <a:r>
              <a:rPr lang="de-CH" sz="2300" dirty="0"/>
              <a:t> </a:t>
            </a:r>
            <a:r>
              <a:rPr lang="de-CH" sz="2300" dirty="0" err="1"/>
              <a:t>for</a:t>
            </a:r>
            <a:r>
              <a:rPr lang="de-CH" sz="2300" dirty="0"/>
              <a:t> </a:t>
            </a:r>
            <a:r>
              <a:rPr lang="de-CH" sz="2300" dirty="0" err="1"/>
              <a:t>correct</a:t>
            </a:r>
            <a:r>
              <a:rPr lang="de-CH" sz="2300" dirty="0"/>
              <a:t> </a:t>
            </a:r>
            <a:r>
              <a:rPr lang="de-CH" sz="2300" dirty="0" err="1"/>
              <a:t>text</a:t>
            </a:r>
            <a:r>
              <a:rPr lang="de-CH" sz="2300" dirty="0"/>
              <a:t> </a:t>
            </a:r>
            <a:r>
              <a:rPr lang="de-CH" sz="2300" dirty="0" err="1"/>
              <a:t>processing</a:t>
            </a:r>
            <a:r>
              <a:rPr lang="de-CH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 err="1"/>
              <a:t>Duplicate</a:t>
            </a:r>
            <a:r>
              <a:rPr lang="de-CH" sz="2300" b="1" dirty="0"/>
              <a:t> </a:t>
            </a:r>
            <a:r>
              <a:rPr lang="de-CH" sz="2300" b="1" dirty="0" err="1"/>
              <a:t>Row</a:t>
            </a:r>
            <a:r>
              <a:rPr lang="de-CH" sz="2300" b="1" dirty="0"/>
              <a:t> Filter:</a:t>
            </a:r>
            <a:r>
              <a:rPr lang="de-CH" sz="2300" dirty="0"/>
              <a:t> </a:t>
            </a:r>
            <a:r>
              <a:rPr lang="de-CH" sz="2300" dirty="0" err="1"/>
              <a:t>Removed</a:t>
            </a:r>
            <a:r>
              <a:rPr lang="de-CH" sz="2300" dirty="0"/>
              <a:t> </a:t>
            </a:r>
            <a:r>
              <a:rPr lang="de-CH" sz="2300" dirty="0" err="1"/>
              <a:t>duplicate</a:t>
            </a:r>
            <a:r>
              <a:rPr lang="de-CH" sz="2300" dirty="0"/>
              <a:t> </a:t>
            </a:r>
            <a:r>
              <a:rPr lang="de-CH" sz="2300" dirty="0" err="1"/>
              <a:t>entries</a:t>
            </a:r>
            <a:r>
              <a:rPr lang="de-CH" sz="2300" dirty="0"/>
              <a:t> in </a:t>
            </a:r>
            <a:r>
              <a:rPr lang="de-CH" sz="2300" i="1" dirty="0"/>
              <a:t>Products</a:t>
            </a:r>
            <a:r>
              <a:rPr lang="de-CH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/>
              <a:t>String Manipulation:</a:t>
            </a:r>
            <a:r>
              <a:rPr lang="de-CH" sz="2300" dirty="0"/>
              <a:t> </a:t>
            </a:r>
            <a:r>
              <a:rPr lang="de-CH" sz="2300" dirty="0" err="1"/>
              <a:t>Cleaned</a:t>
            </a:r>
            <a:r>
              <a:rPr lang="de-CH" sz="2300" dirty="0"/>
              <a:t> and </a:t>
            </a:r>
            <a:r>
              <a:rPr lang="de-CH" sz="2300" dirty="0" err="1"/>
              <a:t>formatted</a:t>
            </a:r>
            <a:r>
              <a:rPr lang="de-CH" sz="2300" dirty="0"/>
              <a:t> </a:t>
            </a:r>
            <a:r>
              <a:rPr lang="de-CH" sz="2300" dirty="0" err="1"/>
              <a:t>text</a:t>
            </a:r>
            <a:r>
              <a:rPr lang="de-CH" sz="2300" dirty="0"/>
              <a:t> </a:t>
            </a:r>
            <a:r>
              <a:rPr lang="de-CH" sz="2300" dirty="0" err="1"/>
              <a:t>fields</a:t>
            </a:r>
            <a:r>
              <a:rPr lang="de-CH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/>
              <a:t>String </a:t>
            </a:r>
            <a:r>
              <a:rPr lang="de-CH" sz="2300" b="1" dirty="0" err="1"/>
              <a:t>to</a:t>
            </a:r>
            <a:r>
              <a:rPr lang="de-CH" sz="2300" b="1" dirty="0"/>
              <a:t> </a:t>
            </a:r>
            <a:r>
              <a:rPr lang="de-CH" sz="2300" b="1" dirty="0" err="1"/>
              <a:t>Number</a:t>
            </a:r>
            <a:r>
              <a:rPr lang="de-CH" sz="2300" b="1" dirty="0"/>
              <a:t>:</a:t>
            </a:r>
            <a:r>
              <a:rPr lang="de-CH" sz="2300" dirty="0"/>
              <a:t> </a:t>
            </a:r>
            <a:r>
              <a:rPr lang="de-CH" sz="2300" dirty="0" err="1"/>
              <a:t>Converted</a:t>
            </a:r>
            <a:r>
              <a:rPr lang="de-CH" sz="2300" dirty="0"/>
              <a:t> </a:t>
            </a:r>
            <a:r>
              <a:rPr lang="de-CH" sz="2300" dirty="0" err="1"/>
              <a:t>numeric</a:t>
            </a:r>
            <a:r>
              <a:rPr lang="de-CH" sz="2300" dirty="0"/>
              <a:t> </a:t>
            </a:r>
            <a:r>
              <a:rPr lang="de-CH" sz="2300" dirty="0" err="1"/>
              <a:t>columns</a:t>
            </a:r>
            <a:r>
              <a:rPr lang="de-CH" sz="2300" dirty="0"/>
              <a:t> </a:t>
            </a:r>
            <a:r>
              <a:rPr lang="de-CH" sz="2300" dirty="0" err="1"/>
              <a:t>to</a:t>
            </a:r>
            <a:r>
              <a:rPr lang="de-CH" sz="2300" dirty="0"/>
              <a:t> </a:t>
            </a:r>
            <a:r>
              <a:rPr lang="de-CH" sz="2300" dirty="0" err="1"/>
              <a:t>correct</a:t>
            </a:r>
            <a:r>
              <a:rPr lang="de-CH" sz="2300" dirty="0"/>
              <a:t> </a:t>
            </a:r>
            <a:r>
              <a:rPr lang="de-CH" sz="2300" dirty="0" err="1"/>
              <a:t>data</a:t>
            </a:r>
            <a:r>
              <a:rPr lang="de-CH" sz="2300" dirty="0"/>
              <a:t> </a:t>
            </a:r>
            <a:r>
              <a:rPr lang="de-CH" sz="2300" dirty="0" err="1"/>
              <a:t>types</a:t>
            </a:r>
            <a:r>
              <a:rPr lang="de-CH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/>
              <a:t>String </a:t>
            </a:r>
            <a:r>
              <a:rPr lang="de-CH" sz="2300" b="1" dirty="0" err="1"/>
              <a:t>to</a:t>
            </a:r>
            <a:r>
              <a:rPr lang="de-CH" sz="2300" b="1" dirty="0"/>
              <a:t> </a:t>
            </a:r>
            <a:r>
              <a:rPr lang="de-CH" sz="2300" b="1" dirty="0" err="1"/>
              <a:t>Date&amp;Time</a:t>
            </a:r>
            <a:r>
              <a:rPr lang="de-CH" sz="2300" b="1" dirty="0"/>
              <a:t>:</a:t>
            </a:r>
            <a:r>
              <a:rPr lang="de-CH" sz="2300" dirty="0"/>
              <a:t> </a:t>
            </a:r>
            <a:r>
              <a:rPr lang="de-CH" sz="2300" dirty="0" err="1"/>
              <a:t>Standardized</a:t>
            </a:r>
            <a:r>
              <a:rPr lang="de-CH" sz="2300" dirty="0"/>
              <a:t> </a:t>
            </a:r>
            <a:r>
              <a:rPr lang="de-CH" sz="2300" dirty="0" err="1"/>
              <a:t>inconsistent</a:t>
            </a:r>
            <a:r>
              <a:rPr lang="de-CH" sz="2300" dirty="0"/>
              <a:t> date </a:t>
            </a:r>
            <a:r>
              <a:rPr lang="de-CH" sz="2300" dirty="0" err="1"/>
              <a:t>formats</a:t>
            </a:r>
            <a:r>
              <a:rPr lang="de-CH" sz="2300" dirty="0"/>
              <a:t> (</a:t>
            </a:r>
            <a:r>
              <a:rPr lang="de-CH" sz="2300" i="1" dirty="0"/>
              <a:t>Orders, </a:t>
            </a:r>
            <a:r>
              <a:rPr lang="de-CH" sz="2300" i="1" dirty="0" err="1"/>
              <a:t>Employees</a:t>
            </a:r>
            <a:r>
              <a:rPr lang="de-CH" sz="23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/>
              <a:t>Math Formula:</a:t>
            </a:r>
            <a:r>
              <a:rPr lang="de-CH" sz="2300" dirty="0"/>
              <a:t> </a:t>
            </a:r>
            <a:r>
              <a:rPr lang="de-CH" sz="2300" dirty="0" err="1"/>
              <a:t>Corrected</a:t>
            </a:r>
            <a:r>
              <a:rPr lang="de-CH" sz="2300" dirty="0"/>
              <a:t> negative </a:t>
            </a:r>
            <a:r>
              <a:rPr lang="de-CH" sz="2300" dirty="0" err="1"/>
              <a:t>discount</a:t>
            </a:r>
            <a:r>
              <a:rPr lang="de-CH" sz="2300" dirty="0"/>
              <a:t> </a:t>
            </a:r>
            <a:r>
              <a:rPr lang="de-CH" sz="2300" dirty="0" err="1"/>
              <a:t>values</a:t>
            </a:r>
            <a:r>
              <a:rPr lang="de-CH" sz="2300" dirty="0"/>
              <a:t> (</a:t>
            </a:r>
            <a:r>
              <a:rPr lang="de-CH" sz="2300" i="1" dirty="0" err="1"/>
              <a:t>OrderDetails</a:t>
            </a:r>
            <a:r>
              <a:rPr lang="de-CH" sz="23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 err="1"/>
              <a:t>Missing</a:t>
            </a:r>
            <a:r>
              <a:rPr lang="de-CH" sz="2300" b="1" dirty="0"/>
              <a:t> Value:</a:t>
            </a:r>
            <a:r>
              <a:rPr lang="de-CH" sz="2300" dirty="0"/>
              <a:t> </a:t>
            </a:r>
            <a:r>
              <a:rPr lang="de-CH" sz="2300" dirty="0" err="1"/>
              <a:t>Handled</a:t>
            </a:r>
            <a:r>
              <a:rPr lang="de-CH" sz="2300" dirty="0"/>
              <a:t> NULL </a:t>
            </a:r>
            <a:r>
              <a:rPr lang="de-CH" sz="2300" dirty="0" err="1"/>
              <a:t>values</a:t>
            </a:r>
            <a:r>
              <a:rPr lang="de-CH" sz="2300" dirty="0"/>
              <a:t> </a:t>
            </a:r>
            <a:r>
              <a:rPr lang="de-CH" sz="2300" dirty="0" err="1"/>
              <a:t>appropriately</a:t>
            </a:r>
            <a:r>
              <a:rPr lang="de-CH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de-CH" sz="2300" dirty="0"/>
          </a:p>
          <a:p>
            <a:pPr>
              <a:buNone/>
            </a:pPr>
            <a:r>
              <a:rPr lang="de-CH" sz="3800" b="1" u="sng" dirty="0"/>
              <a:t>Data </a:t>
            </a:r>
            <a:r>
              <a:rPr lang="de-CH" sz="3800" b="1" u="sng" dirty="0" err="1"/>
              <a:t>Loading</a:t>
            </a:r>
            <a:endParaRPr lang="de-CH" sz="3800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/>
              <a:t>DB Table </a:t>
            </a:r>
            <a:r>
              <a:rPr lang="de-CH" sz="2300" b="1" dirty="0" err="1"/>
              <a:t>Structure</a:t>
            </a:r>
            <a:r>
              <a:rPr lang="de-CH" sz="2300" b="1" dirty="0"/>
              <a:t> Creator:</a:t>
            </a:r>
            <a:r>
              <a:rPr lang="de-CH" sz="2300" dirty="0"/>
              <a:t> </a:t>
            </a:r>
            <a:r>
              <a:rPr lang="de-CH" sz="2300" dirty="0" err="1"/>
              <a:t>Defined</a:t>
            </a:r>
            <a:r>
              <a:rPr lang="de-CH" sz="2300" dirty="0"/>
              <a:t> </a:t>
            </a:r>
            <a:r>
              <a:rPr lang="de-CH" sz="2300" dirty="0" err="1"/>
              <a:t>tables</a:t>
            </a:r>
            <a:r>
              <a:rPr lang="de-CH" sz="2300" dirty="0"/>
              <a:t> </a:t>
            </a:r>
            <a:r>
              <a:rPr lang="de-CH" sz="2300" dirty="0" err="1"/>
              <a:t>with</a:t>
            </a:r>
            <a:r>
              <a:rPr lang="de-CH" sz="2300" dirty="0"/>
              <a:t> </a:t>
            </a:r>
            <a:r>
              <a:rPr lang="de-CH" sz="2300" dirty="0" err="1"/>
              <a:t>meaningful</a:t>
            </a:r>
            <a:r>
              <a:rPr lang="de-CH" sz="2300" dirty="0"/>
              <a:t> </a:t>
            </a:r>
            <a:r>
              <a:rPr lang="de-CH" sz="2300" dirty="0" err="1"/>
              <a:t>data</a:t>
            </a:r>
            <a:r>
              <a:rPr lang="de-CH" sz="2300" dirty="0"/>
              <a:t> </a:t>
            </a:r>
            <a:r>
              <a:rPr lang="de-CH" sz="2300" dirty="0" err="1"/>
              <a:t>types</a:t>
            </a:r>
            <a:r>
              <a:rPr lang="de-CH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CH" sz="2300" b="1" dirty="0"/>
              <a:t>DB Writer:</a:t>
            </a:r>
            <a:r>
              <a:rPr lang="de-CH" sz="2300" dirty="0"/>
              <a:t> </a:t>
            </a:r>
            <a:r>
              <a:rPr lang="de-CH" sz="2300" dirty="0" err="1"/>
              <a:t>Loaded</a:t>
            </a:r>
            <a:r>
              <a:rPr lang="de-CH" sz="2300" dirty="0"/>
              <a:t> </a:t>
            </a:r>
            <a:r>
              <a:rPr lang="de-CH" sz="2300" dirty="0" err="1"/>
              <a:t>cleaned</a:t>
            </a:r>
            <a:r>
              <a:rPr lang="de-CH" sz="2300" dirty="0"/>
              <a:t> </a:t>
            </a:r>
            <a:r>
              <a:rPr lang="de-CH" sz="2300" dirty="0" err="1"/>
              <a:t>data</a:t>
            </a:r>
            <a:r>
              <a:rPr lang="de-CH" sz="2300" dirty="0"/>
              <a:t> </a:t>
            </a:r>
            <a:r>
              <a:rPr lang="de-CH" sz="2300" dirty="0" err="1"/>
              <a:t>into</a:t>
            </a:r>
            <a:r>
              <a:rPr lang="de-CH" sz="2300" dirty="0"/>
              <a:t> PostgreSQL</a:t>
            </a:r>
          </a:p>
          <a:p>
            <a:pPr>
              <a:buFont typeface="Arial" panose="020B0604020202020204" pitchFamily="34" charset="0"/>
              <a:buChar char="•"/>
            </a:pPr>
            <a:endParaRPr lang="de-CH" sz="2300" dirty="0"/>
          </a:p>
          <a:p>
            <a:pPr marL="0" indent="0">
              <a:buNone/>
            </a:pPr>
            <a:r>
              <a:rPr lang="en-US" sz="3800" b="1" u="sng" dirty="0"/>
              <a:t>Outcome</a:t>
            </a:r>
          </a:p>
          <a:p>
            <a:r>
              <a:rPr lang="en-US" sz="2300" dirty="0"/>
              <a:t>Clean, consistent, and structured staging tables </a:t>
            </a:r>
          </a:p>
          <a:p>
            <a:r>
              <a:rPr lang="en-US" sz="2300" dirty="0"/>
              <a:t>Improved data quality and integrity </a:t>
            </a:r>
          </a:p>
          <a:p>
            <a:r>
              <a:rPr lang="en-US" sz="2300" dirty="0"/>
              <a:t>Reliable foundation for the Data Mart and analysis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de-CH" sz="1100" dirty="0"/>
          </a:p>
          <a:p>
            <a:pPr marL="0" indent="0">
              <a:buNone/>
            </a:pPr>
            <a:endParaRPr lang="de-CH" sz="16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1F2EDC7-F0E5-A953-ED5B-B142B82E4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79628"/>
            <a:ext cx="6522720" cy="609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B5EA44-7555-7606-DE8F-26CDE3F27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7528" y="187452"/>
            <a:ext cx="6016752" cy="648309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b="1" dirty="0"/>
              <a:t>Data Mart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Data Mart built from cleaned staging tables in 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Designed to support analytical queries and reporting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800" b="1" dirty="0"/>
              <a:t>Data Integration &amp;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PostgreSQL Connector:</a:t>
            </a:r>
            <a:r>
              <a:rPr lang="en-US" sz="1400" dirty="0"/>
              <a:t> Access to staging 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DB Table Selector:</a:t>
            </a:r>
            <a:r>
              <a:rPr lang="en-US" sz="1400" dirty="0"/>
              <a:t> Selected relevant tables (</a:t>
            </a:r>
            <a:r>
              <a:rPr lang="en-US" sz="1400" i="1" dirty="0"/>
              <a:t>Orders, </a:t>
            </a:r>
            <a:r>
              <a:rPr lang="en-US" sz="1400" i="1" dirty="0" err="1"/>
              <a:t>OrderDetails</a:t>
            </a:r>
            <a:r>
              <a:rPr lang="en-US" sz="14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Joiner:</a:t>
            </a:r>
            <a:r>
              <a:rPr lang="en-US" sz="1400" dirty="0"/>
              <a:t> Combined tables to create a central </a:t>
            </a:r>
            <a:r>
              <a:rPr lang="en-US" sz="1400" b="1" dirty="0"/>
              <a:t>fact table (</a:t>
            </a:r>
            <a:r>
              <a:rPr lang="en-US" sz="1400" b="1" dirty="0" err="1"/>
              <a:t>Orders_fact</a:t>
            </a:r>
            <a:r>
              <a:rPr lang="en-US" sz="1400" b="1" dirty="0"/>
              <a:t>)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Structured data model optimized for analysis (fact-based design)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800" b="1" dirty="0"/>
              <a:t>Analysis Workflow (KNIME)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DB Query Reader:</a:t>
            </a:r>
            <a:r>
              <a:rPr lang="en-US" sz="1400" dirty="0"/>
              <a:t> Executed SQL queries for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Expression Row Filter:</a:t>
            </a:r>
            <a:r>
              <a:rPr lang="en-US" sz="1400" dirty="0"/>
              <a:t> Applied conditions (e.g., demand vs. stock)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Table View:</a:t>
            </a:r>
            <a:r>
              <a:rPr lang="en-US" sz="1400" dirty="0"/>
              <a:t> Displayed query results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Bar Chart / Stacked Area Chart / Scatter Plot:</a:t>
            </a:r>
            <a:r>
              <a:rPr lang="en-US" sz="1400" dirty="0"/>
              <a:t> Visualized key insights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800" b="1" dirty="0"/>
              <a:t>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Efficient querying and analysis-ready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Clear insights through visualizations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Supports business-oriented decision making</a:t>
            </a:r>
          </a:p>
          <a:p>
            <a:pPr marL="0" indent="0">
              <a:buNone/>
            </a:pPr>
            <a:endParaRPr lang="de-CH" sz="12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38779DC-7818-D6D6-169F-2A249836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50" y="0"/>
            <a:ext cx="38056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5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FA984-A40B-6C7A-9B5D-6F951C77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Modeling (Star Schema)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512049-B653-E085-8493-F44F53257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48" y="1690688"/>
            <a:ext cx="5690616" cy="4351338"/>
          </a:xfrm>
        </p:spPr>
        <p:txBody>
          <a:bodyPr>
            <a:normAutofit fontScale="70000" lnSpcReduction="20000"/>
          </a:bodyPr>
          <a:lstStyle/>
          <a:p>
            <a:r>
              <a:rPr lang="de-CH" dirty="0"/>
              <a:t>The Data Mart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designed</a:t>
            </a:r>
            <a:r>
              <a:rPr lang="de-CH" dirty="0"/>
              <a:t> </a:t>
            </a:r>
            <a:r>
              <a:rPr lang="de-CH" dirty="0" err="1"/>
              <a:t>using</a:t>
            </a:r>
            <a:r>
              <a:rPr lang="de-CH" dirty="0"/>
              <a:t> a </a:t>
            </a:r>
            <a:r>
              <a:rPr lang="de-CH" b="1" dirty="0"/>
              <a:t>Star Schema</a:t>
            </a:r>
            <a:r>
              <a:rPr lang="de-CH" dirty="0"/>
              <a:t> </a:t>
            </a:r>
          </a:p>
          <a:p>
            <a:r>
              <a:rPr lang="de-CH" dirty="0"/>
              <a:t>Central </a:t>
            </a:r>
            <a:r>
              <a:rPr lang="de-CH" b="1" dirty="0"/>
              <a:t>Fact Table</a:t>
            </a:r>
            <a:r>
              <a:rPr lang="de-CH" dirty="0"/>
              <a:t> </a:t>
            </a:r>
            <a:r>
              <a:rPr lang="de-CH" dirty="0" err="1"/>
              <a:t>stores</a:t>
            </a:r>
            <a:r>
              <a:rPr lang="de-CH" dirty="0"/>
              <a:t> </a:t>
            </a:r>
            <a:r>
              <a:rPr lang="de-CH" dirty="0" err="1"/>
              <a:t>measurable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(e.g., </a:t>
            </a:r>
            <a:r>
              <a:rPr lang="de-CH" dirty="0" err="1"/>
              <a:t>sales</a:t>
            </a:r>
            <a:r>
              <a:rPr lang="de-CH" dirty="0"/>
              <a:t>, </a:t>
            </a:r>
            <a:r>
              <a:rPr lang="de-CH" dirty="0" err="1"/>
              <a:t>quantity</a:t>
            </a:r>
            <a:r>
              <a:rPr lang="de-CH" dirty="0"/>
              <a:t>) </a:t>
            </a:r>
          </a:p>
          <a:p>
            <a:r>
              <a:rPr lang="de-CH" dirty="0" err="1"/>
              <a:t>Surrounding</a:t>
            </a:r>
            <a:r>
              <a:rPr lang="de-CH" dirty="0"/>
              <a:t> </a:t>
            </a:r>
            <a:r>
              <a:rPr lang="de-CH" b="1" dirty="0"/>
              <a:t>Dimension </a:t>
            </a:r>
            <a:r>
              <a:rPr lang="de-CH" b="1" dirty="0" err="1"/>
              <a:t>Tables</a:t>
            </a:r>
            <a:r>
              <a:rPr lang="de-CH" dirty="0"/>
              <a:t> </a:t>
            </a:r>
            <a:r>
              <a:rPr lang="de-CH" dirty="0" err="1"/>
              <a:t>provide</a:t>
            </a:r>
            <a:r>
              <a:rPr lang="de-CH" dirty="0"/>
              <a:t> </a:t>
            </a:r>
            <a:r>
              <a:rPr lang="de-CH" dirty="0" err="1"/>
              <a:t>descriptive</a:t>
            </a:r>
            <a:r>
              <a:rPr lang="de-CH" dirty="0"/>
              <a:t> </a:t>
            </a:r>
            <a:r>
              <a:rPr lang="de-CH" dirty="0" err="1"/>
              <a:t>context</a:t>
            </a:r>
            <a:r>
              <a:rPr lang="de-CH" dirty="0"/>
              <a:t> </a:t>
            </a:r>
          </a:p>
          <a:p>
            <a:r>
              <a:rPr lang="de-CH" dirty="0" err="1"/>
              <a:t>Structure</a:t>
            </a:r>
            <a:r>
              <a:rPr lang="de-CH" dirty="0"/>
              <a:t> </a:t>
            </a:r>
            <a:r>
              <a:rPr lang="de-CH" dirty="0" err="1"/>
              <a:t>enables</a:t>
            </a:r>
            <a:r>
              <a:rPr lang="de-CH" dirty="0"/>
              <a:t> </a:t>
            </a:r>
            <a:r>
              <a:rPr lang="de-CH" b="1" dirty="0"/>
              <a:t>fast </a:t>
            </a:r>
            <a:r>
              <a:rPr lang="de-CH" b="1" dirty="0" err="1"/>
              <a:t>queries</a:t>
            </a:r>
            <a:r>
              <a:rPr lang="de-CH" b="1" dirty="0"/>
              <a:t> and easy </a:t>
            </a:r>
            <a:r>
              <a:rPr lang="de-CH" b="1" dirty="0" err="1"/>
              <a:t>analysis</a:t>
            </a:r>
            <a:r>
              <a:rPr lang="de-CH" dirty="0"/>
              <a:t> </a:t>
            </a:r>
          </a:p>
          <a:p>
            <a:pPr marL="0" indent="0">
              <a:buNone/>
            </a:pPr>
            <a:endParaRPr lang="de-CH" b="1" dirty="0"/>
          </a:p>
          <a:p>
            <a:pPr marL="0" indent="0">
              <a:buNone/>
            </a:pPr>
            <a:r>
              <a:rPr lang="de-CH" b="1" dirty="0"/>
              <a:t>Schema Components</a:t>
            </a:r>
          </a:p>
          <a:p>
            <a:r>
              <a:rPr lang="de-CH" b="1" dirty="0"/>
              <a:t>Fact Table:</a:t>
            </a:r>
            <a:r>
              <a:rPr lang="de-CH" dirty="0"/>
              <a:t> </a:t>
            </a:r>
            <a:r>
              <a:rPr lang="de-CH" i="1" dirty="0" err="1"/>
              <a:t>Orders_fact</a:t>
            </a:r>
            <a:r>
              <a:rPr lang="de-CH" dirty="0"/>
              <a:t> </a:t>
            </a:r>
          </a:p>
          <a:p>
            <a:r>
              <a:rPr lang="de-CH" b="1" dirty="0" err="1"/>
              <a:t>Dimensions</a:t>
            </a:r>
            <a:r>
              <a:rPr lang="de-CH" b="1" dirty="0"/>
              <a:t>:</a:t>
            </a:r>
            <a:r>
              <a:rPr lang="de-CH" dirty="0"/>
              <a:t> </a:t>
            </a:r>
          </a:p>
          <a:p>
            <a:pPr lvl="1"/>
            <a:r>
              <a:rPr lang="de-CH" i="1" dirty="0"/>
              <a:t>Products</a:t>
            </a:r>
            <a:r>
              <a:rPr lang="de-CH" dirty="0"/>
              <a:t> (</a:t>
            </a:r>
            <a:r>
              <a:rPr lang="de-CH" dirty="0" err="1"/>
              <a:t>Product</a:t>
            </a:r>
            <a:r>
              <a:rPr lang="de-CH" dirty="0"/>
              <a:t> </a:t>
            </a:r>
            <a:r>
              <a:rPr lang="de-CH" dirty="0" err="1"/>
              <a:t>details</a:t>
            </a:r>
            <a:r>
              <a:rPr lang="de-CH" dirty="0"/>
              <a:t>) </a:t>
            </a:r>
          </a:p>
          <a:p>
            <a:pPr lvl="1"/>
            <a:r>
              <a:rPr lang="de-CH" i="1" dirty="0"/>
              <a:t>Customers</a:t>
            </a:r>
            <a:r>
              <a:rPr lang="de-CH" dirty="0"/>
              <a:t> (Customer </a:t>
            </a:r>
            <a:r>
              <a:rPr lang="de-CH" dirty="0" err="1"/>
              <a:t>info</a:t>
            </a:r>
            <a:r>
              <a:rPr lang="de-CH" dirty="0"/>
              <a:t>) </a:t>
            </a:r>
          </a:p>
          <a:p>
            <a:pPr lvl="1"/>
            <a:r>
              <a:rPr lang="de-CH" i="1" dirty="0" err="1"/>
              <a:t>Employees</a:t>
            </a:r>
            <a:r>
              <a:rPr lang="de-CH" dirty="0"/>
              <a:t> (Sales </a:t>
            </a:r>
            <a:r>
              <a:rPr lang="de-CH" dirty="0" err="1"/>
              <a:t>staff</a:t>
            </a:r>
            <a:r>
              <a:rPr lang="de-CH" dirty="0"/>
              <a:t>) </a:t>
            </a:r>
          </a:p>
          <a:p>
            <a:pPr lvl="1"/>
            <a:r>
              <a:rPr lang="de-CH" i="1" dirty="0" err="1"/>
              <a:t>Categories</a:t>
            </a:r>
            <a:r>
              <a:rPr lang="de-CH" dirty="0"/>
              <a:t> (</a:t>
            </a:r>
            <a:r>
              <a:rPr lang="de-CH" dirty="0" err="1"/>
              <a:t>Product</a:t>
            </a:r>
            <a:r>
              <a:rPr lang="de-CH" dirty="0"/>
              <a:t> </a:t>
            </a:r>
            <a:r>
              <a:rPr lang="de-CH" dirty="0" err="1"/>
              <a:t>categories</a:t>
            </a:r>
            <a:r>
              <a:rPr lang="de-CH" dirty="0"/>
              <a:t>) </a:t>
            </a:r>
          </a:p>
        </p:txBody>
      </p:sp>
      <p:sp>
        <p:nvSpPr>
          <p:cNvPr id="4" name="Stern: 5 Zacken 3">
            <a:extLst>
              <a:ext uri="{FF2B5EF4-FFF2-40B4-BE49-F238E27FC236}">
                <a16:creationId xmlns:a16="http://schemas.microsoft.com/office/drawing/2014/main" id="{3D09C8AE-6A02-CFB2-7B32-089BA880ADE3}"/>
              </a:ext>
            </a:extLst>
          </p:cNvPr>
          <p:cNvSpPr/>
          <p:nvPr/>
        </p:nvSpPr>
        <p:spPr>
          <a:xfrm>
            <a:off x="7717536" y="2414016"/>
            <a:ext cx="2944368" cy="254203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4AD8C07E-F2E5-C747-E151-CD279D52FF5B}"/>
              </a:ext>
            </a:extLst>
          </p:cNvPr>
          <p:cNvSpPr/>
          <p:nvPr/>
        </p:nvSpPr>
        <p:spPr>
          <a:xfrm>
            <a:off x="8426196" y="3259836"/>
            <a:ext cx="1527048" cy="8503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Orders_fact</a:t>
            </a: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91E5A7F-DB5A-7488-0A3C-61D632723EDA}"/>
              </a:ext>
            </a:extLst>
          </p:cNvPr>
          <p:cNvSpPr/>
          <p:nvPr/>
        </p:nvSpPr>
        <p:spPr>
          <a:xfrm>
            <a:off x="6227064" y="2985008"/>
            <a:ext cx="1527048" cy="8503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Products</a:t>
            </a: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411DEF6-5A55-8894-AC5D-C5FD1BF37394}"/>
              </a:ext>
            </a:extLst>
          </p:cNvPr>
          <p:cNvSpPr/>
          <p:nvPr/>
        </p:nvSpPr>
        <p:spPr>
          <a:xfrm>
            <a:off x="10625328" y="3003804"/>
            <a:ext cx="1527048" cy="8503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Customers</a:t>
            </a: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B737005-08F2-97BF-7F58-4DDDB999CC85}"/>
              </a:ext>
            </a:extLst>
          </p:cNvPr>
          <p:cNvSpPr/>
          <p:nvPr/>
        </p:nvSpPr>
        <p:spPr>
          <a:xfrm>
            <a:off x="9994392" y="4890706"/>
            <a:ext cx="1527048" cy="8503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Employees</a:t>
            </a: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57226F9-BB58-B89D-7C9E-5E025B9D7204}"/>
              </a:ext>
            </a:extLst>
          </p:cNvPr>
          <p:cNvSpPr/>
          <p:nvPr/>
        </p:nvSpPr>
        <p:spPr>
          <a:xfrm>
            <a:off x="6858000" y="4923377"/>
            <a:ext cx="1527048" cy="8503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Categories</a:t>
            </a:r>
            <a:endParaRPr lang="de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66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2416B-4197-2AAF-6606-5E1D1550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1389"/>
            <a:ext cx="10515600" cy="677291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Which top five 5 products are ordered the most?</a:t>
            </a:r>
            <a:endParaRPr lang="de-CH" sz="28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D9D553-6859-A0AA-BECD-86B80DA5F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808" y="1316737"/>
            <a:ext cx="5919218" cy="4864608"/>
          </a:xfrm>
        </p:spPr>
        <p:txBody>
          <a:bodyPr>
            <a:normAutofit/>
          </a:bodyPr>
          <a:lstStyle/>
          <a:p>
            <a:r>
              <a:rPr lang="en-US" sz="1800" dirty="0"/>
              <a:t>Identified using an SQL query on the </a:t>
            </a:r>
            <a:r>
              <a:rPr lang="en-US" sz="1800" dirty="0" err="1"/>
              <a:t>Orders_fact</a:t>
            </a:r>
            <a:r>
              <a:rPr lang="en-US" sz="1800" dirty="0"/>
              <a:t> table</a:t>
            </a:r>
          </a:p>
          <a:p>
            <a:r>
              <a:rPr lang="en-US" sz="1800" dirty="0"/>
              <a:t>Joined with Products to retrieve product names </a:t>
            </a:r>
          </a:p>
          <a:p>
            <a:r>
              <a:rPr lang="en-US" sz="1800" dirty="0"/>
              <a:t>Aggregated total quantity using SUM(Quantity)</a:t>
            </a:r>
          </a:p>
          <a:p>
            <a:r>
              <a:rPr lang="en-US" sz="1800" dirty="0"/>
              <a:t>Sorted in descending order and limited to top 5</a:t>
            </a:r>
            <a:endParaRPr lang="de-CH" sz="18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613223D-D1DA-FAB8-C4CC-C7C5F44E1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298" y="2996801"/>
            <a:ext cx="2859023" cy="2087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BE7364A4-6490-BFD7-3397-66D8882501CF}"/>
              </a:ext>
            </a:extLst>
          </p:cNvPr>
          <p:cNvSpPr txBox="1"/>
          <p:nvPr/>
        </p:nvSpPr>
        <p:spPr>
          <a:xfrm>
            <a:off x="6659881" y="1316737"/>
            <a:ext cx="4910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Results:</a:t>
            </a:r>
          </a:p>
          <a:p>
            <a:endParaRPr lang="de-CH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5DA43DD-7BE1-EC3F-E3E2-80CB5C7C9740}"/>
              </a:ext>
            </a:extLst>
          </p:cNvPr>
          <p:cNvSpPr txBox="1"/>
          <p:nvPr/>
        </p:nvSpPr>
        <p:spPr>
          <a:xfrm>
            <a:off x="6757584" y="443773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1" dirty="0"/>
              <a:t>Insight:</a:t>
            </a:r>
            <a:endParaRPr lang="en-US" b="1" dirty="0"/>
          </a:p>
          <a:p>
            <a:r>
              <a:rPr lang="en-US" dirty="0"/>
              <a:t>Important for inventory planning and sales strategy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5792C2F-B306-C8EB-FB25-1A83AA073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584" y="1731835"/>
            <a:ext cx="4277322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5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9550A-6DB2-BDE4-5A9E-C45237C02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06F77B-4840-B751-1BBB-732BF81A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GB" sz="2400" b="1" dirty="0"/>
              <a:t>Which products have higher demand than products in stock?</a:t>
            </a:r>
            <a:endParaRPr lang="de-CH" sz="24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75471-A218-98A9-414D-A939A0880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74" y="1153930"/>
            <a:ext cx="5204724" cy="2450592"/>
          </a:xfrm>
        </p:spPr>
        <p:txBody>
          <a:bodyPr>
            <a:normAutofit/>
          </a:bodyPr>
          <a:lstStyle/>
          <a:p>
            <a:r>
              <a:rPr lang="de-CH" sz="1800" dirty="0"/>
              <a:t>SUM(</a:t>
            </a:r>
            <a:r>
              <a:rPr lang="de-CH" sz="1800" dirty="0" err="1"/>
              <a:t>UnitsInStock</a:t>
            </a:r>
            <a:r>
              <a:rPr lang="de-CH" sz="1800" dirty="0"/>
              <a:t> * </a:t>
            </a:r>
            <a:r>
              <a:rPr lang="de-CH" sz="1800" dirty="0" err="1"/>
              <a:t>QuantityPerUnit</a:t>
            </a:r>
            <a:r>
              <a:rPr lang="de-CH" sz="1800" dirty="0"/>
              <a:t>) → </a:t>
            </a:r>
            <a:r>
              <a:rPr lang="de-CH" sz="1800" dirty="0" err="1"/>
              <a:t>calculates</a:t>
            </a:r>
            <a:r>
              <a:rPr lang="de-CH" sz="1800" dirty="0"/>
              <a:t> total stock </a:t>
            </a:r>
            <a:r>
              <a:rPr lang="de-CH" sz="1800" dirty="0" err="1"/>
              <a:t>capacity</a:t>
            </a:r>
            <a:r>
              <a:rPr lang="de-CH" sz="1800" dirty="0"/>
              <a:t> </a:t>
            </a:r>
          </a:p>
          <a:p>
            <a:r>
              <a:rPr lang="de-CH" sz="1800" dirty="0"/>
              <a:t>SUM(</a:t>
            </a:r>
            <a:r>
              <a:rPr lang="de-CH" sz="1800" dirty="0" err="1"/>
              <a:t>UnitsOnOrder</a:t>
            </a:r>
            <a:r>
              <a:rPr lang="de-CH" sz="1800" dirty="0"/>
              <a:t> * </a:t>
            </a:r>
            <a:r>
              <a:rPr lang="de-CH" sz="1800" dirty="0" err="1"/>
              <a:t>QuantityPerUnit</a:t>
            </a:r>
            <a:r>
              <a:rPr lang="de-CH" sz="1800" dirty="0"/>
              <a:t>) → </a:t>
            </a:r>
            <a:r>
              <a:rPr lang="de-CH" sz="1800" dirty="0" err="1"/>
              <a:t>calculates</a:t>
            </a:r>
            <a:r>
              <a:rPr lang="de-CH" sz="1800" dirty="0"/>
              <a:t> total </a:t>
            </a:r>
            <a:r>
              <a:rPr lang="de-CH" sz="1800" dirty="0" err="1"/>
              <a:t>demand</a:t>
            </a:r>
            <a:r>
              <a:rPr lang="de-CH" sz="1800" dirty="0"/>
              <a:t> </a:t>
            </a:r>
          </a:p>
          <a:p>
            <a:r>
              <a:rPr lang="de-CH" sz="1800" dirty="0"/>
              <a:t>GROUP BY </a:t>
            </a:r>
            <a:r>
              <a:rPr lang="de-CH" sz="1800" dirty="0" err="1"/>
              <a:t>ProductID</a:t>
            </a:r>
            <a:r>
              <a:rPr lang="de-CH" sz="1800" dirty="0"/>
              <a:t>, </a:t>
            </a:r>
            <a:r>
              <a:rPr lang="de-CH" sz="1800" dirty="0" err="1"/>
              <a:t>ProductName</a:t>
            </a:r>
            <a:r>
              <a:rPr lang="de-CH" sz="1800" dirty="0"/>
              <a:t> → </a:t>
            </a:r>
            <a:r>
              <a:rPr lang="de-CH" sz="1800" dirty="0" err="1"/>
              <a:t>aggregates</a:t>
            </a:r>
            <a:r>
              <a:rPr lang="de-CH" sz="1800" dirty="0"/>
              <a:t> </a:t>
            </a:r>
            <a:r>
              <a:rPr lang="de-CH" sz="1800" dirty="0" err="1"/>
              <a:t>results</a:t>
            </a:r>
            <a:r>
              <a:rPr lang="de-CH" sz="1800" dirty="0"/>
              <a:t> per </a:t>
            </a:r>
            <a:r>
              <a:rPr lang="de-CH" sz="1800" dirty="0" err="1"/>
              <a:t>product</a:t>
            </a:r>
            <a:r>
              <a:rPr lang="de-CH" sz="1800" dirty="0"/>
              <a:t> </a:t>
            </a:r>
          </a:p>
          <a:p>
            <a:r>
              <a:rPr lang="de-CH" sz="1800" dirty="0"/>
              <a:t>Products </a:t>
            </a:r>
            <a:r>
              <a:rPr lang="de-CH" sz="1800" dirty="0" err="1"/>
              <a:t>where</a:t>
            </a:r>
            <a:r>
              <a:rPr lang="de-CH" sz="1800" dirty="0"/>
              <a:t> </a:t>
            </a:r>
            <a:r>
              <a:rPr lang="de-CH" sz="1800" b="1" dirty="0" err="1"/>
              <a:t>demand</a:t>
            </a:r>
            <a:r>
              <a:rPr lang="de-CH" sz="1800" b="1" dirty="0"/>
              <a:t> &gt; stock</a:t>
            </a:r>
            <a:r>
              <a:rPr lang="de-CH" sz="1800" dirty="0"/>
              <a:t> </a:t>
            </a:r>
            <a:r>
              <a:rPr lang="de-CH" sz="1800" dirty="0" err="1"/>
              <a:t>were</a:t>
            </a:r>
            <a:r>
              <a:rPr lang="de-CH" sz="1800" dirty="0"/>
              <a:t> </a:t>
            </a:r>
            <a:r>
              <a:rPr lang="de-CH" sz="1800" dirty="0" err="1"/>
              <a:t>identified</a:t>
            </a:r>
            <a:r>
              <a:rPr lang="de-CH" sz="1800" dirty="0"/>
              <a:t> </a:t>
            </a:r>
            <a:r>
              <a:rPr lang="de-CH" sz="1800" dirty="0" err="1"/>
              <a:t>afterward</a:t>
            </a:r>
            <a:r>
              <a:rPr lang="de-CH" sz="1800" dirty="0"/>
              <a:t> in KNIME </a:t>
            </a:r>
            <a:r>
              <a:rPr lang="de-CH" sz="1800" dirty="0" err="1"/>
              <a:t>using</a:t>
            </a:r>
            <a:r>
              <a:rPr lang="de-CH" sz="1800" dirty="0"/>
              <a:t> a </a:t>
            </a:r>
            <a:r>
              <a:rPr lang="de-CH" sz="1800" dirty="0" err="1"/>
              <a:t>filter</a:t>
            </a:r>
            <a:endParaRPr lang="de-CH" sz="1800" dirty="0"/>
          </a:p>
          <a:p>
            <a:endParaRPr lang="de-CH" sz="18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9EA28EC-C9C3-A56C-5446-F012E81A0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553" y="1251530"/>
            <a:ext cx="4270160" cy="432255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70DCA2D-230A-9969-934C-1F7F95FE6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827" y="4107029"/>
            <a:ext cx="4420217" cy="1467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5471A83-BACE-D64B-7102-28C2B9DB3F8E}"/>
              </a:ext>
            </a:extLst>
          </p:cNvPr>
          <p:cNvSpPr txBox="1"/>
          <p:nvPr/>
        </p:nvSpPr>
        <p:spPr>
          <a:xfrm>
            <a:off x="6677553" y="969264"/>
            <a:ext cx="476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Results: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17A0DBE-6529-5A9E-1B7E-32390F855240}"/>
              </a:ext>
            </a:extLst>
          </p:cNvPr>
          <p:cNvSpPr txBox="1"/>
          <p:nvPr/>
        </p:nvSpPr>
        <p:spPr>
          <a:xfrm>
            <a:off x="6677553" y="5701183"/>
            <a:ext cx="5036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</a:t>
            </a:r>
          </a:p>
          <a:p>
            <a:r>
              <a:rPr lang="en-US" dirty="0"/>
              <a:t>These products should be prioritized for supply chain optimization</a:t>
            </a:r>
          </a:p>
        </p:txBody>
      </p:sp>
    </p:spTree>
    <p:extLst>
      <p:ext uri="{BB962C8B-B14F-4D97-AF65-F5344CB8AC3E}">
        <p14:creationId xmlns:p14="http://schemas.microsoft.com/office/powerpoint/2010/main" val="2661962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B3B1D-B214-5E9A-C589-BCE42210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E99885-DF71-C806-44C9-AF95820A4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29" y="254234"/>
            <a:ext cx="10381942" cy="693737"/>
          </a:xfrm>
        </p:spPr>
        <p:txBody>
          <a:bodyPr>
            <a:normAutofit fontScale="90000"/>
          </a:bodyPr>
          <a:lstStyle/>
          <a:p>
            <a:pPr algn="ctr"/>
            <a:br>
              <a:rPr lang="en-GB" sz="2100" b="1" dirty="0"/>
            </a:br>
            <a:r>
              <a:rPr lang="en-GB" sz="2700" b="1" dirty="0"/>
              <a:t>Which employee has the highest sales?</a:t>
            </a:r>
            <a:endParaRPr lang="de-CH" sz="27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AC33F6-AB04-C843-F3F7-AA949BBE7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313" y="1098222"/>
            <a:ext cx="5377126" cy="2450593"/>
          </a:xfrm>
        </p:spPr>
        <p:txBody>
          <a:bodyPr>
            <a:normAutofit/>
          </a:bodyPr>
          <a:lstStyle/>
          <a:p>
            <a:r>
              <a:rPr lang="en-US" sz="1800" dirty="0"/>
              <a:t>Identified using an SQL query on </a:t>
            </a:r>
            <a:r>
              <a:rPr lang="en-US" sz="1800" dirty="0" err="1"/>
              <a:t>Orders_fact</a:t>
            </a:r>
            <a:endParaRPr lang="en-US" sz="1800" dirty="0"/>
          </a:p>
          <a:p>
            <a:r>
              <a:rPr lang="en-US" sz="1800" dirty="0"/>
              <a:t>Joined with Employees and Products tables</a:t>
            </a:r>
          </a:p>
          <a:p>
            <a:r>
              <a:rPr lang="en-US" sz="1800" dirty="0"/>
              <a:t>Calculated total sales using SUM(Quantity × </a:t>
            </a:r>
            <a:r>
              <a:rPr lang="en-US" sz="1800" dirty="0" err="1"/>
              <a:t>UnitPrice</a:t>
            </a:r>
            <a:r>
              <a:rPr lang="en-US" sz="1800" dirty="0"/>
              <a:t>)</a:t>
            </a:r>
          </a:p>
          <a:p>
            <a:r>
              <a:rPr lang="en-US" sz="1800" dirty="0"/>
              <a:t>Results sorted in descending order</a:t>
            </a:r>
            <a:endParaRPr lang="de-CH" sz="1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3D9D27-733E-ECA5-9B8D-889E3A7D7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460" y="3155623"/>
            <a:ext cx="2866262" cy="2673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68E1B8C-F57D-89EE-ABF9-A02B994F7BFE}"/>
              </a:ext>
            </a:extLst>
          </p:cNvPr>
          <p:cNvSpPr txBox="1"/>
          <p:nvPr/>
        </p:nvSpPr>
        <p:spPr>
          <a:xfrm>
            <a:off x="6206386" y="5325014"/>
            <a:ext cx="56148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Significant performance differences between employees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performers can be analyzed for best practices and sales strategies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1E87881-DAA7-21C8-6D0E-2A66835073A1}"/>
              </a:ext>
            </a:extLst>
          </p:cNvPr>
          <p:cNvSpPr txBox="1"/>
          <p:nvPr/>
        </p:nvSpPr>
        <p:spPr>
          <a:xfrm>
            <a:off x="6206386" y="1098222"/>
            <a:ext cx="476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Results: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66560E3-CB1D-84E0-FBC4-906BF3A7D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46" y="1464736"/>
            <a:ext cx="4983371" cy="386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98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825E6-B239-79BA-A24B-E15AFD56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47321-BEC8-C7EE-2558-3B63230C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33" y="95125"/>
            <a:ext cx="12012333" cy="714570"/>
          </a:xfrm>
        </p:spPr>
        <p:txBody>
          <a:bodyPr>
            <a:normAutofit/>
          </a:bodyPr>
          <a:lstStyle/>
          <a:p>
            <a:pPr algn="ctr"/>
            <a:r>
              <a:rPr lang="en-GB" sz="2400" b="1" dirty="0"/>
              <a:t>In which month of each year the orders were the highest, and which categories contributed?</a:t>
            </a:r>
            <a:endParaRPr lang="de-CH" sz="24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AA374-2CB5-FA56-8D26-D89CA31C3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547" y="1437231"/>
            <a:ext cx="5224437" cy="1988850"/>
          </a:xfrm>
        </p:spPr>
        <p:txBody>
          <a:bodyPr>
            <a:normAutofit/>
          </a:bodyPr>
          <a:lstStyle/>
          <a:p>
            <a:r>
              <a:rPr lang="en-US" sz="1800" dirty="0"/>
              <a:t>Identified using an SQL query on </a:t>
            </a:r>
            <a:r>
              <a:rPr lang="en-US" sz="1800" dirty="0" err="1"/>
              <a:t>Orders_fact</a:t>
            </a:r>
            <a:endParaRPr lang="en-US" sz="1800" dirty="0"/>
          </a:p>
          <a:p>
            <a:r>
              <a:rPr lang="en-US" sz="1800" dirty="0"/>
              <a:t>Joined with Products and Categories</a:t>
            </a:r>
          </a:p>
          <a:p>
            <a:r>
              <a:rPr lang="en-US" sz="1800" dirty="0"/>
              <a:t>Aggregated orders per date using SUM(Quantity)</a:t>
            </a:r>
          </a:p>
          <a:p>
            <a:r>
              <a:rPr lang="de-DE" altLang="de-DE" sz="1800" dirty="0">
                <a:latin typeface="Arial" panose="020B0604020202020204" pitchFamily="34" charset="0"/>
              </a:rPr>
              <a:t>STRING_AGG(DISTINCT </a:t>
            </a:r>
            <a:r>
              <a:rPr lang="de-DE" altLang="de-DE" sz="1800" dirty="0" err="1">
                <a:latin typeface="Arial" panose="020B0604020202020204" pitchFamily="34" charset="0"/>
              </a:rPr>
              <a:t>CategoryName</a:t>
            </a:r>
            <a:r>
              <a:rPr lang="de-DE" altLang="de-DE" sz="1800" dirty="0">
                <a:latin typeface="Arial" panose="020B0604020202020204" pitchFamily="34" charset="0"/>
              </a:rPr>
              <a:t>, …) → Lists </a:t>
            </a:r>
            <a:r>
              <a:rPr lang="de-DE" altLang="de-DE" sz="1800" dirty="0" err="1">
                <a:latin typeface="Arial" panose="020B0604020202020204" pitchFamily="34" charset="0"/>
              </a:rPr>
              <a:t>unique</a:t>
            </a:r>
            <a:r>
              <a:rPr lang="de-DE" altLang="de-DE" sz="1800" dirty="0">
                <a:latin typeface="Arial" panose="020B0604020202020204" pitchFamily="34" charset="0"/>
              </a:rPr>
              <a:t> </a:t>
            </a:r>
            <a:r>
              <a:rPr lang="de-DE" altLang="de-DE" sz="1800" dirty="0" err="1">
                <a:latin typeface="Arial" panose="020B0604020202020204" pitchFamily="34" charset="0"/>
              </a:rPr>
              <a:t>categories</a:t>
            </a:r>
            <a:r>
              <a:rPr lang="de-DE" altLang="de-DE" sz="1800" dirty="0">
                <a:latin typeface="Arial" panose="020B0604020202020204" pitchFamily="34" charset="0"/>
              </a:rPr>
              <a:t> per </a:t>
            </a:r>
            <a:r>
              <a:rPr lang="de-DE" altLang="de-DE" sz="1800" dirty="0" err="1">
                <a:latin typeface="Arial" panose="020B0604020202020204" pitchFamily="34" charset="0"/>
              </a:rPr>
              <a:t>month</a:t>
            </a:r>
            <a:r>
              <a:rPr lang="de-DE" altLang="de-DE" sz="1800" dirty="0">
                <a:latin typeface="Arial" panose="020B0604020202020204" pitchFamily="34" charset="0"/>
              </a:rPr>
              <a:t> </a:t>
            </a:r>
            <a:endParaRPr lang="en-US" sz="18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BECB5E4-ED5E-B6DE-CA39-9C3AC1B7793E}"/>
              </a:ext>
            </a:extLst>
          </p:cNvPr>
          <p:cNvSpPr txBox="1"/>
          <p:nvPr/>
        </p:nvSpPr>
        <p:spPr>
          <a:xfrm>
            <a:off x="5949695" y="692605"/>
            <a:ext cx="476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Results: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5FD50D5-EF32-BED7-6D66-4C39E1F99B8D}"/>
              </a:ext>
            </a:extLst>
          </p:cNvPr>
          <p:cNvSpPr txBox="1"/>
          <p:nvPr/>
        </p:nvSpPr>
        <p:spPr>
          <a:xfrm>
            <a:off x="5788152" y="4771111"/>
            <a:ext cx="64038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 trend with higher demand toward year-end in 1996 &amp; 1997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 seasonal inventory planning and marketing campaigns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categories driving peaks should be prioritized during high-demand periods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644C551-6E20-A15D-16C6-426E319A9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91529"/>
            <a:ext cx="5018715" cy="380068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BE0D52B-B688-8C53-D83B-FDB08DDB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89" y="3361818"/>
            <a:ext cx="4646172" cy="3048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0844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2E3D-FA69-1771-DD4B-66CF0618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40B9D-79DF-CA7E-8D63-04E1DEEB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411"/>
          </a:xfrm>
        </p:spPr>
        <p:txBody>
          <a:bodyPr>
            <a:noAutofit/>
          </a:bodyPr>
          <a:lstStyle/>
          <a:p>
            <a:pPr algn="ctr"/>
            <a:br>
              <a:rPr lang="en-GB" sz="2400" b="1" dirty="0"/>
            </a:br>
            <a:r>
              <a:rPr lang="en-GB" sz="2400" b="1" dirty="0"/>
              <a:t>Which products show declining demand despite high stock?</a:t>
            </a:r>
            <a:endParaRPr lang="de-CH" sz="24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990A809-6915-0373-883D-B78BB56C6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962" y="3221833"/>
            <a:ext cx="2957470" cy="33167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B297A2F-50FA-16B4-A2B9-4161EB2C91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9649" y="1163521"/>
            <a:ext cx="564635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on </a:t>
            </a:r>
            <a:r>
              <a:rPr kumimoji="0" lang="de-DE" altLang="de-DE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Orders_fact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de-DE" altLang="de-DE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(last 3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vs.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period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decreasing</a:t>
            </a: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</a:t>
            </a: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high stock (&gt; 50 </a:t>
            </a:r>
            <a:r>
              <a:rPr kumimoji="0" lang="de-DE" altLang="de-DE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units</a:t>
            </a: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58D638C-1FF6-953C-431E-775CCD703321}"/>
              </a:ext>
            </a:extLst>
          </p:cNvPr>
          <p:cNvSpPr txBox="1"/>
          <p:nvPr/>
        </p:nvSpPr>
        <p:spPr>
          <a:xfrm>
            <a:off x="6361175" y="1380118"/>
            <a:ext cx="476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Results: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A84CDAA-BF33-9D94-864C-0F0DA82EDAEC}"/>
              </a:ext>
            </a:extLst>
          </p:cNvPr>
          <p:cNvSpPr txBox="1"/>
          <p:nvPr/>
        </p:nvSpPr>
        <p:spPr>
          <a:xfrm>
            <a:off x="6361175" y="4738549"/>
            <a:ext cx="57271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products show declining demand despite high inventory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risk of overstock and increased storage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Suggests need for discounts, promotions, or stock reduction strategies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171FD8-2063-960C-7140-761CF150C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055" y="1693488"/>
            <a:ext cx="4130205" cy="310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2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3FF07-9D1A-8CBA-1842-9F8D6234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Experiences</a:t>
            </a:r>
            <a:r>
              <a:rPr lang="de-DE" dirty="0"/>
              <a:t> &amp; </a:t>
            </a:r>
            <a:r>
              <a:rPr lang="de-DE" dirty="0" err="1"/>
              <a:t>Conclusions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2C4651-0C90-5D65-450E-0ECCD7729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/>
              <a:t>Experiences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Gained practical experience in building a Data Warehouse (Staging Area + Data Mart)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Worked with KNIME for ETL and PostgreSQL for data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Learned to handle data quality issues (duplicates, formats, missing values, encoding)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Cleaned data made joins easier and more reliable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SQL and Star Schema modeling for analysis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Conclusions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and structured data is essential for accurate results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Data Mart improves query performance and usability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Visualizations are highly effective for analyzing and communicating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analysis revealed key business insights (e.g., demand trends, stock issues)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4213968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823</Words>
  <Application>Microsoft Office PowerPoint</Application>
  <PresentationFormat>Breitbild</PresentationFormat>
  <Paragraphs>125</Paragraphs>
  <Slides>10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DWH Project Report</vt:lpstr>
      <vt:lpstr>PowerPoint-Präsentation</vt:lpstr>
      <vt:lpstr>PowerPoint-Präsentation</vt:lpstr>
      <vt:lpstr>Data Modeling (Star Schema)</vt:lpstr>
      <vt:lpstr>Which top five 5 products are ordered the most?</vt:lpstr>
      <vt:lpstr>Which products have higher demand than products in stock?</vt:lpstr>
      <vt:lpstr> Which employee has the highest sales?</vt:lpstr>
      <vt:lpstr>In which month of each year the orders were the highest, and which categories contributed?</vt:lpstr>
      <vt:lpstr> Which products show declining demand despite high stock?</vt:lpstr>
      <vt:lpstr>Experiences &amp;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Dang Jessica My-Hanh (dangmyh1)</dc:creator>
  <cp:lastModifiedBy>Dang Jessica My-Hanh (dangmyh1)</cp:lastModifiedBy>
  <cp:revision>29</cp:revision>
  <dcterms:created xsi:type="dcterms:W3CDTF">2026-03-27T06:08:18Z</dcterms:created>
  <dcterms:modified xsi:type="dcterms:W3CDTF">2026-04-01T19:06:23Z</dcterms:modified>
</cp:coreProperties>
</file>